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61" r:id="rId6"/>
    <p:sldId id="278" r:id="rId7"/>
    <p:sldId id="277" r:id="rId8"/>
    <p:sldId id="270" r:id="rId9"/>
  </p:sldIdLst>
  <p:sldSz cx="12192000" cy="6858000"/>
  <p:notesSz cx="6858000" cy="9144000"/>
  <p:embeddedFontLst>
    <p:embeddedFont>
      <p:font typeface="Franklin Gothic" panose="020B0604020202020204" charset="0"/>
      <p:bold r:id="rId11"/>
    </p:embeddedFont>
    <p:embeddedFont>
      <p:font typeface="Libre Franklin" pitchFamily="2" charset="0"/>
      <p:regular r:id="rId12"/>
      <p:bold r:id="rId13"/>
      <p:italic r:id="rId14"/>
      <p:boldItalic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2F4DF8-F8EF-43FB-A488-FD7913362F7B}" v="66" dt="2025-10-04T08:32:49.7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0" Type="http://customschemas.google.com/relationships/presentationmetadata" Target="metadata"/><Relationship Id="rId35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3T16:39:56.075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13T16:39:57.01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90346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0363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7379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502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39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828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611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" name="Google Shape;17;p7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8" name="Google Shape;18;p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1" name="Google Shape;21;p7"/>
          <p:cNvSpPr txBox="1">
            <a:spLocks noGrp="1"/>
          </p:cNvSpPr>
          <p:nvPr>
            <p:ph type="body" idx="1"/>
          </p:nvPr>
        </p:nvSpPr>
        <p:spPr>
          <a:xfrm>
            <a:off x="6367055" y="4549553"/>
            <a:ext cx="5491570" cy="953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2" name="Google Shape;22;p7"/>
          <p:cNvCxnSpPr/>
          <p:nvPr/>
        </p:nvCxnSpPr>
        <p:spPr>
          <a:xfrm>
            <a:off x="5839833" y="578434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Google Shape;25;p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" name="Google Shape;26;p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" name="Google Shape;27;p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0" name="Google Shape;30;p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3480">
          <p15:clr>
            <a:srgbClr val="FBAE40"/>
          </p15:clr>
        </p15:guide>
        <p15:guide id="3" orient="horz" pos="1440">
          <p15:clr>
            <a:srgbClr val="FBAE40"/>
          </p15:clr>
        </p15:guide>
        <p15:guide id="4" orient="horz" pos="1224">
          <p15:clr>
            <a:srgbClr val="FBAE40"/>
          </p15:clr>
        </p15:guide>
        <p15:guide id="5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9" name="Google Shape;39;p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40" name="Google Shape;40;p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1" name="Google Shape;41;p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" name="Google Shape;42;p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0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57" name="Google Shape;57;p10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8" name="Google Shape;58;p10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59" name="Google Shape;59;p10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0" name="Google Shape;60;p10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1" name="Google Shape;61;p10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10"/>
          <p:cNvCxnSpPr/>
          <p:nvPr/>
        </p:nvCxnSpPr>
        <p:spPr>
          <a:xfrm>
            <a:off x="952500" y="1934655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952500" y="281829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952500" y="2209800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6" name="Google Shape;66;p10"/>
          <p:cNvCxnSpPr/>
          <p:nvPr/>
        </p:nvCxnSpPr>
        <p:spPr>
          <a:xfrm>
            <a:off x="3663043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0"/>
          <p:cNvSpPr txBox="1">
            <a:spLocks noGrp="1"/>
          </p:cNvSpPr>
          <p:nvPr>
            <p:ph type="body" idx="3"/>
          </p:nvPr>
        </p:nvSpPr>
        <p:spPr>
          <a:xfrm>
            <a:off x="3663042" y="2818296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4"/>
          </p:nvPr>
        </p:nvSpPr>
        <p:spPr>
          <a:xfrm>
            <a:off x="3663042" y="2209800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9" name="Google Shape;69;p10"/>
          <p:cNvCxnSpPr/>
          <p:nvPr/>
        </p:nvCxnSpPr>
        <p:spPr>
          <a:xfrm>
            <a:off x="952500" y="424811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10"/>
          <p:cNvSpPr txBox="1">
            <a:spLocks noGrp="1"/>
          </p:cNvSpPr>
          <p:nvPr>
            <p:ph type="body" idx="5"/>
          </p:nvPr>
        </p:nvSpPr>
        <p:spPr>
          <a:xfrm>
            <a:off x="952500" y="513129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6"/>
          </p:nvPr>
        </p:nvSpPr>
        <p:spPr>
          <a:xfrm>
            <a:off x="952500" y="4522803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3663043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3" name="Google Shape;73;p10"/>
          <p:cNvSpPr txBox="1">
            <a:spLocks noGrp="1"/>
          </p:cNvSpPr>
          <p:nvPr>
            <p:ph type="body" idx="7"/>
          </p:nvPr>
        </p:nvSpPr>
        <p:spPr>
          <a:xfrm>
            <a:off x="3663042" y="513129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8"/>
          </p:nvPr>
        </p:nvSpPr>
        <p:spPr>
          <a:xfrm>
            <a:off x="3663042" y="4522803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5" name="Google Shape;75;p10"/>
          <p:cNvCxnSpPr/>
          <p:nvPr/>
        </p:nvCxnSpPr>
        <p:spPr>
          <a:xfrm>
            <a:off x="6367055" y="4252111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6" name="Google Shape;76;p10"/>
          <p:cNvSpPr txBox="1">
            <a:spLocks noGrp="1"/>
          </p:cNvSpPr>
          <p:nvPr>
            <p:ph type="body" idx="9"/>
          </p:nvPr>
        </p:nvSpPr>
        <p:spPr>
          <a:xfrm>
            <a:off x="6367054" y="513129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body" idx="13"/>
          </p:nvPr>
        </p:nvSpPr>
        <p:spPr>
          <a:xfrm>
            <a:off x="6367054" y="4522803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eak">
  <p:cSld name="Break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199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3" name="Google Shape;83;p11"/>
          <p:cNvSpPr txBox="1"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Franklin Gothic"/>
              <a:buNone/>
              <a:defRPr sz="41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4" name="Google Shape;84;p11"/>
          <p:cNvCxnSpPr/>
          <p:nvPr/>
        </p:nvCxnSpPr>
        <p:spPr>
          <a:xfrm>
            <a:off x="7154721" y="4003877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5" name="Google Shape;85;p11"/>
          <p:cNvGrpSpPr/>
          <p:nvPr/>
        </p:nvGrpSpPr>
        <p:grpSpPr>
          <a:xfrm rot="10800000">
            <a:off x="9509760" y="-3"/>
            <a:ext cx="2682238" cy="2682238"/>
            <a:chOff x="0" y="12289"/>
            <a:chExt cx="3550" cy="3551"/>
          </a:xfrm>
        </p:grpSpPr>
        <p:sp>
          <p:nvSpPr>
            <p:cNvPr id="86" name="Google Shape;86;p11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>
            <a:spLocks noGrp="1"/>
          </p:cNvSpPr>
          <p:nvPr>
            <p:ph type="chart" idx="2"/>
          </p:nvPr>
        </p:nvSpPr>
        <p:spPr>
          <a:xfrm>
            <a:off x="952500" y="1939108"/>
            <a:ext cx="10352810" cy="4110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Table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bre Franklin"/>
              <a:buNone/>
              <a:defRPr sz="28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“</a:t>
            </a:r>
            <a:endParaRPr/>
          </a:p>
        </p:txBody>
      </p:sp>
      <p:grpSp>
        <p:nvGrpSpPr>
          <p:cNvPr id="103" name="Google Shape;103;p14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04" name="Google Shape;104;p14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9" name="Google Shape;109;p14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0" name="Google Shape;110;p1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1" name="Google Shape;111;p1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2" name="Google Shape;112;p1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5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5" name="Google Shape;115;p1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8" name="Google Shape;118;p15"/>
          <p:cNvSpPr>
            <a:spLocks noGrp="1"/>
          </p:cNvSpPr>
          <p:nvPr>
            <p:ph type="pic" idx="2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15"/>
          <p:cNvCxnSpPr/>
          <p:nvPr/>
        </p:nvCxnSpPr>
        <p:spPr>
          <a:xfrm>
            <a:off x="952500" y="1939108"/>
            <a:ext cx="2133600" cy="0"/>
          </a:xfrm>
          <a:prstGeom prst="straightConnector1">
            <a:avLst/>
          </a:prstGeom>
          <a:noFill/>
          <a:ln w="1016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15"/>
          <p:cNvSpPr>
            <a:spLocks noGrp="1"/>
          </p:cNvSpPr>
          <p:nvPr>
            <p:ph type="pic" idx="3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15"/>
          <p:cNvSpPr txBox="1">
            <a:spLocks noGrp="1"/>
          </p:cNvSpPr>
          <p:nvPr>
            <p:ph type="body" idx="1"/>
          </p:nvPr>
        </p:nvSpPr>
        <p:spPr>
          <a:xfrm>
            <a:off x="952500" y="5393169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4"/>
          </p:nvPr>
        </p:nvSpPr>
        <p:spPr>
          <a:xfrm>
            <a:off x="952500" y="4986745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5"/>
          </p:nvPr>
        </p:nvSpPr>
        <p:spPr>
          <a:xfrm>
            <a:off x="3663042" y="5393169"/>
            <a:ext cx="21281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6"/>
          </p:nvPr>
        </p:nvSpPr>
        <p:spPr>
          <a:xfrm>
            <a:off x="3663042" y="4986745"/>
            <a:ext cx="2128157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7"/>
          </p:nvPr>
        </p:nvSpPr>
        <p:spPr>
          <a:xfrm>
            <a:off x="63670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body" idx="8"/>
          </p:nvPr>
        </p:nvSpPr>
        <p:spPr>
          <a:xfrm>
            <a:off x="63670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5"/>
          <p:cNvSpPr txBox="1">
            <a:spLocks noGrp="1"/>
          </p:cNvSpPr>
          <p:nvPr>
            <p:ph type="body" idx="9"/>
          </p:nvPr>
        </p:nvSpPr>
        <p:spPr>
          <a:xfrm>
            <a:off x="9110254" y="5393169"/>
            <a:ext cx="21292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15"/>
          <p:cNvSpPr txBox="1">
            <a:spLocks noGrp="1"/>
          </p:cNvSpPr>
          <p:nvPr>
            <p:ph type="body" idx="13"/>
          </p:nvPr>
        </p:nvSpPr>
        <p:spPr>
          <a:xfrm>
            <a:off x="9110254" y="4986745"/>
            <a:ext cx="2129245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30" name="Google Shape;130;p15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31" name="Google Shape;131;p15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36" name="Google Shape;136;p15"/>
          <p:cNvSpPr>
            <a:spLocks noGrp="1"/>
          </p:cNvSpPr>
          <p:nvPr>
            <p:ph type="pic" idx="14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5"/>
          <p:cNvSpPr>
            <a:spLocks noGrp="1"/>
          </p:cNvSpPr>
          <p:nvPr>
            <p:ph type="pic" idx="15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5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5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4008">
          <p15:clr>
            <a:srgbClr val="FBAE40"/>
          </p15:clr>
        </p15:guide>
        <p15:guide id="5" pos="1944">
          <p15:clr>
            <a:srgbClr val="FBAE40"/>
          </p15:clr>
        </p15:guide>
        <p15:guide id="6" pos="3648">
          <p15:clr>
            <a:srgbClr val="FBAE40"/>
          </p15:clr>
        </p15:guide>
        <p15:guide id="7" orient="horz" pos="1392">
          <p15:clr>
            <a:srgbClr val="FBAE40"/>
          </p15:clr>
        </p15:guide>
        <p15:guide id="8" orient="horz" pos="552">
          <p15:clr>
            <a:srgbClr val="FBAE40"/>
          </p15:clr>
        </p15:guide>
        <p15:guide id="9" orient="horz" pos="1224">
          <p15:clr>
            <a:srgbClr val="FBAE40"/>
          </p15:clr>
        </p15:guide>
        <p15:guide id="10" pos="5352">
          <p15:clr>
            <a:srgbClr val="FBAE40"/>
          </p15:clr>
        </p15:guide>
        <p15:guide id="11" pos="5736">
          <p15:clr>
            <a:srgbClr val="FBAE40"/>
          </p15:clr>
        </p15:guide>
        <p15:guide id="12" orient="horz" pos="2904">
          <p15:clr>
            <a:srgbClr val="FBAE40"/>
          </p15:clr>
        </p15:guide>
        <p15:guide id="13" orient="horz" pos="160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">
  <p:cSld name="Timeline "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16"/>
          <p:cNvCxnSpPr/>
          <p:nvPr/>
        </p:nvCxnSpPr>
        <p:spPr>
          <a:xfrm flipH="1">
            <a:off x="1045959" y="2213783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3" name="Google Shape;143;p16"/>
          <p:cNvCxnSpPr/>
          <p:nvPr/>
        </p:nvCxnSpPr>
        <p:spPr>
          <a:xfrm flipH="1">
            <a:off x="6180493" y="2213783"/>
            <a:ext cx="11102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4" name="Google Shape;144;p16"/>
          <p:cNvCxnSpPr/>
          <p:nvPr/>
        </p:nvCxnSpPr>
        <p:spPr>
          <a:xfrm flipH="1">
            <a:off x="8745623" y="3904712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5" name="Google Shape;145;p16"/>
          <p:cNvCxnSpPr/>
          <p:nvPr/>
        </p:nvCxnSpPr>
        <p:spPr>
          <a:xfrm flipH="1">
            <a:off x="3611089" y="3895941"/>
            <a:ext cx="2136" cy="1828800"/>
          </a:xfrm>
          <a:prstGeom prst="straightConnector1">
            <a:avLst/>
          </a:prstGeom>
          <a:noFill/>
          <a:ln w="1651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296955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1296955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3897799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body" idx="4"/>
          </p:nvPr>
        </p:nvSpPr>
        <p:spPr>
          <a:xfrm>
            <a:off x="3897799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5"/>
          </p:nvPr>
        </p:nvSpPr>
        <p:spPr>
          <a:xfrm>
            <a:off x="9001711" y="5087328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6"/>
          </p:nvPr>
        </p:nvSpPr>
        <p:spPr>
          <a:xfrm>
            <a:off x="9001711" y="4701908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7"/>
          </p:nvPr>
        </p:nvSpPr>
        <p:spPr>
          <a:xfrm>
            <a:off x="6438143" y="2934856"/>
            <a:ext cx="2133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body" idx="8"/>
          </p:nvPr>
        </p:nvSpPr>
        <p:spPr>
          <a:xfrm>
            <a:off x="6438143" y="2568686"/>
            <a:ext cx="2133600" cy="20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5" name="Google Shape;155;p16"/>
          <p:cNvCxnSpPr/>
          <p:nvPr/>
        </p:nvCxnSpPr>
        <p:spPr>
          <a:xfrm>
            <a:off x="967689" y="3968780"/>
            <a:ext cx="10275477" cy="0"/>
          </a:xfrm>
          <a:prstGeom prst="straightConnector1">
            <a:avLst/>
          </a:prstGeom>
          <a:noFill/>
          <a:ln w="1651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16"/>
          <p:cNvSpPr/>
          <p:nvPr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0" name="Google Shape;160;p1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3768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orient="horz" pos="1512">
          <p15:clr>
            <a:srgbClr val="FBAE40"/>
          </p15:clr>
        </p15:guide>
        <p15:guide id="11" orient="horz" pos="283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">
  <p:cSld name="2 Col"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7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65" name="Google Shape;165;p17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2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body" idx="3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4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4" name="Google Shape;174;p17"/>
          <p:cNvCxnSpPr/>
          <p:nvPr/>
        </p:nvCxnSpPr>
        <p:spPr>
          <a:xfrm>
            <a:off x="63627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5" name="Google Shape;175;p17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">
  <p:cSld name="3 col"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1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1" name="Google Shape;181;p1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2" name="Google Shape;182;p1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4" name="Google Shape;184;p18"/>
          <p:cNvCxnSpPr/>
          <p:nvPr/>
        </p:nvCxnSpPr>
        <p:spPr>
          <a:xfrm>
            <a:off x="952500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5" name="Google Shape;185;p18"/>
          <p:cNvSpPr txBox="1"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body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body" idx="3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body" idx="4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18"/>
          <p:cNvSpPr txBox="1">
            <a:spLocks noGrp="1"/>
          </p:cNvSpPr>
          <p:nvPr>
            <p:ph type="body" idx="5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0" name="Google Shape;190;p18"/>
          <p:cNvSpPr txBox="1">
            <a:spLocks noGrp="1"/>
          </p:cNvSpPr>
          <p:nvPr>
            <p:ph type="body" idx="6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91" name="Google Shape;191;p18"/>
          <p:cNvCxnSpPr/>
          <p:nvPr/>
        </p:nvCxnSpPr>
        <p:spPr>
          <a:xfrm>
            <a:off x="4569372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2" name="Google Shape;192;p18"/>
          <p:cNvCxnSpPr/>
          <p:nvPr/>
        </p:nvCxnSpPr>
        <p:spPr>
          <a:xfrm>
            <a:off x="8187017" y="19391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3" name="Google Shape;193;p1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>
          <p15:clr>
            <a:srgbClr val="FBAE40"/>
          </p15:clr>
        </p15:guide>
        <p15:guide id="4" pos="5160">
          <p15:clr>
            <a:srgbClr val="FBAE40"/>
          </p15:clr>
        </p15:guide>
        <p15:guide id="5" orient="horz" pos="1224">
          <p15:clr>
            <a:srgbClr val="FBAE40"/>
          </p15:clr>
        </p15:guide>
        <p15:guide id="6" orient="horz" pos="1440">
          <p15:clr>
            <a:srgbClr val="FBAE40"/>
          </p15:clr>
        </p15:guide>
        <p15:guide id="7" orient="horz" pos="552">
          <p15:clr>
            <a:srgbClr val="FBAE40"/>
          </p15:clr>
        </p15:guide>
        <p15:guide id="8" pos="4800">
          <p15:clr>
            <a:srgbClr val="FBAE40"/>
          </p15:clr>
        </p15:guide>
        <p15:guide id="9" pos="2880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Thank You"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>
            <a:spLocks noGrp="1"/>
          </p:cNvSpPr>
          <p:nvPr>
            <p:ph type="body" idx="1"/>
          </p:nvPr>
        </p:nvSpPr>
        <p:spPr>
          <a:xfrm>
            <a:off x="6896100" y="5102063"/>
            <a:ext cx="4914900" cy="58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 b="0" i="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2"/>
          </p:nvPr>
        </p:nvSpPr>
        <p:spPr>
          <a:xfrm>
            <a:off x="6907623" y="3591098"/>
            <a:ext cx="4903377" cy="105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0" name="Google Shape;200;p19"/>
          <p:cNvCxnSpPr/>
          <p:nvPr/>
        </p:nvCxnSpPr>
        <p:spPr>
          <a:xfrm>
            <a:off x="6896100" y="3233703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1" name="Google Shape;201;p19"/>
          <p:cNvSpPr>
            <a:spLocks noGrp="1"/>
          </p:cNvSpPr>
          <p:nvPr>
            <p:ph type="pic" idx="3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02" name="Google Shape;202;p19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203" name="Google Shape;203;p1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"/>
          <p:cNvSpPr txBox="1">
            <a:spLocks noGrp="1"/>
          </p:cNvSpPr>
          <p:nvPr>
            <p:ph type="ctrTitle"/>
          </p:nvPr>
        </p:nvSpPr>
        <p:spPr>
          <a:xfrm>
            <a:off x="6096000" y="419450"/>
            <a:ext cx="5773445" cy="998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00000"/>
              </a:lnSpc>
              <a:buSzPts val="3600"/>
            </a:pPr>
            <a:b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Tool </a:t>
            </a:r>
            <a:b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u="sng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Google Shape;211;p1"/>
          <p:cNvSpPr txBox="1">
            <a:spLocks noGrp="1"/>
          </p:cNvSpPr>
          <p:nvPr>
            <p:ph type="body" idx="1"/>
          </p:nvPr>
        </p:nvSpPr>
        <p:spPr>
          <a:xfrm>
            <a:off x="6096000" y="1503727"/>
            <a:ext cx="5908645" cy="474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Problem Statement: </a:t>
            </a:r>
            <a:r>
              <a:rPr lang="en-US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Fake News </a:t>
            </a:r>
          </a:p>
          <a:p>
            <a:pPr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Detection Tool which provide the </a:t>
            </a:r>
          </a:p>
          <a:p>
            <a:pPr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security to avoid the fake news</a:t>
            </a:r>
          </a:p>
          <a:p>
            <a: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Project Group Number: 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07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Group Member Details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: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Ganesh Pandey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(0187CY221012)</a:t>
            </a:r>
            <a:endParaRPr lang="en-IN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Ishika Lovewanshi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(0187CY221015)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endParaRPr lang="en-US" dirty="0">
              <a:latin typeface="Times New Roman" panose="02020603050405020304" pitchFamily="18" charset="0"/>
              <a:ea typeface="Franklin Gothic"/>
              <a:cs typeface="Times New Roman" panose="02020603050405020304" pitchFamily="18" charset="0"/>
              <a:sym typeface="Franklin Gothic"/>
            </a:endParaRPr>
          </a:p>
          <a:p>
            <a:pPr rtl="0">
              <a:spcBef>
                <a:spcPts val="100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Guide Details: </a:t>
            </a:r>
            <a:endParaRPr lang="en-IN" sz="2000" b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dirty="0"/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1132515" y="117446"/>
            <a:ext cx="3036814" cy="90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200" dirty="0"/>
              <a:t>Major Project – I</a:t>
            </a:r>
          </a:p>
          <a:p>
            <a:pPr algn="ctr"/>
            <a:r>
              <a:rPr lang="en-US" sz="3200" dirty="0"/>
              <a:t>CY-706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56" y="0"/>
            <a:ext cx="893352" cy="1132985"/>
          </a:xfrm>
          <a:prstGeom prst="rect">
            <a:avLst/>
          </a:prstGeom>
        </p:spPr>
      </p:pic>
      <p:sp>
        <p:nvSpPr>
          <p:cNvPr id="5" name="Google Shape;232;p3">
            <a:extLst>
              <a:ext uri="{FF2B5EF4-FFF2-40B4-BE49-F238E27FC236}">
                <a16:creationId xmlns:a16="http://schemas.microsoft.com/office/drawing/2014/main" id="{5F42CE52-8812-D9D3-116B-A3118AA981E5}"/>
              </a:ext>
            </a:extLst>
          </p:cNvPr>
          <p:cNvSpPr txBox="1"/>
          <p:nvPr/>
        </p:nvSpPr>
        <p:spPr>
          <a:xfrm>
            <a:off x="5778195" y="1442907"/>
            <a:ext cx="5647611" cy="46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1600" dirty="0">
                <a:solidFill>
                  <a:schemeClr val="lt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     </a:t>
            </a:r>
            <a:endParaRPr lang="en-US" sz="12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IN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935447" y="1156850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Idea/Approach Details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xfrm>
            <a:off x="318454" y="6360864"/>
            <a:ext cx="260386" cy="25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dirty="0"/>
          </a:p>
        </p:txBody>
      </p:sp>
      <p:sp>
        <p:nvSpPr>
          <p:cNvPr id="222" name="Google Shape;222;p2"/>
          <p:cNvSpPr txBox="1"/>
          <p:nvPr/>
        </p:nvSpPr>
        <p:spPr>
          <a:xfrm>
            <a:off x="7161458" y="4488110"/>
            <a:ext cx="4188848" cy="199657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600" b="0" i="0" dirty="0">
                <a:solidFill>
                  <a:schemeClr val="lt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Describe Technology stack here</a:t>
            </a:r>
            <a:r>
              <a:rPr lang="en-US" sz="1600" b="0" i="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: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Front-End Technologies:</a:t>
            </a: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  HTML , </a:t>
            </a:r>
            <a:r>
              <a:rPr lang="en-US" sz="120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CSS </a:t>
            </a:r>
            <a:endParaRPr lang="en-US" sz="120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Backend-Technology: </a:t>
            </a: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Flask ( Python 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ML Model: </a:t>
            </a: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NLTK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Libraries:</a:t>
            </a: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 Pandas , Numpy , Scikit-learn , OpenCV , Pillow , </a:t>
            </a:r>
            <a:r>
              <a:rPr lang="en-US" sz="1200" dirty="0" err="1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joblib</a:t>
            </a:r>
            <a:r>
              <a:rPr lang="en-US" sz="1200" dirty="0">
                <a:solidFill>
                  <a:schemeClr val="dk1"/>
                </a:solidFill>
                <a:latin typeface="Times New Roman" panose="02020603050405020304" pitchFamily="18" charset="0"/>
                <a:ea typeface="Libre Franklin"/>
                <a:cs typeface="Times New Roman" panose="02020603050405020304" pitchFamily="18" charset="0"/>
                <a:sym typeface="Libre Franklin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b="1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600" b="0" i="0" dirty="0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222;p2">
            <a:extLst>
              <a:ext uri="{FF2B5EF4-FFF2-40B4-BE49-F238E27FC236}">
                <a16:creationId xmlns:a16="http://schemas.microsoft.com/office/drawing/2014/main" id="{D17D62E3-421C-8B4F-24FC-7C53CF7AA148}"/>
              </a:ext>
            </a:extLst>
          </p:cNvPr>
          <p:cNvSpPr txBox="1"/>
          <p:nvPr/>
        </p:nvSpPr>
        <p:spPr>
          <a:xfrm>
            <a:off x="7161458" y="2062475"/>
            <a:ext cx="4188848" cy="22159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 </a:t>
            </a:r>
            <a:r>
              <a:rPr lang="en-US" sz="1600" b="0" i="0" dirty="0">
                <a:solidFill>
                  <a:schemeClr val="tx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Abstract</a:t>
            </a:r>
            <a:r>
              <a:rPr lang="en-US" sz="1600" b="0" i="0" dirty="0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endParaRPr lang="en-US" sz="1200" b="0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  <a:p>
            <a:pPr lvl="0" algn="just">
              <a:lnSpc>
                <a:spcPct val="150000"/>
              </a:lnSpc>
              <a:buClr>
                <a:schemeClr val="lt2"/>
              </a:buClr>
              <a:buSzPts val="1800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"This project is a Fake News Detection System that uses machine learning to check whether news is real or fake. It learns from data, finds hidden patterns, and works like a digital fact-checker. The goal is to stop the spread of false information and make online news more trustworthy."</a:t>
            </a:r>
            <a:endParaRPr lang="en-US"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Libre Frankli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0" y="51051"/>
            <a:ext cx="757237" cy="9603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45" name="Ink 1044">
                <a:extLst>
                  <a:ext uri="{FF2B5EF4-FFF2-40B4-BE49-F238E27FC236}">
                    <a16:creationId xmlns:a16="http://schemas.microsoft.com/office/drawing/2014/main" id="{882FCDBD-6EA5-31C3-FAE3-0011B9E17351}"/>
                  </a:ext>
                </a:extLst>
              </p14:cNvPr>
              <p14:cNvContentPartPr/>
              <p14:nvPr/>
            </p14:nvContentPartPr>
            <p14:xfrm>
              <a:off x="5165479" y="3521083"/>
              <a:ext cx="360" cy="360"/>
            </p14:xfrm>
          </p:contentPart>
        </mc:Choice>
        <mc:Fallback xmlns="">
          <p:pic>
            <p:nvPicPr>
              <p:cNvPr id="1045" name="Ink 1044">
                <a:extLst>
                  <a:ext uri="{FF2B5EF4-FFF2-40B4-BE49-F238E27FC236}">
                    <a16:creationId xmlns:a16="http://schemas.microsoft.com/office/drawing/2014/main" id="{882FCDBD-6EA5-31C3-FAE3-0011B9E173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47479" y="3413443"/>
                <a:ext cx="36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1046" name="Ink 1045">
                <a:extLst>
                  <a:ext uri="{FF2B5EF4-FFF2-40B4-BE49-F238E27FC236}">
                    <a16:creationId xmlns:a16="http://schemas.microsoft.com/office/drawing/2014/main" id="{4B6F50FE-7BF1-C4F1-740A-551BB31B8431}"/>
                  </a:ext>
                </a:extLst>
              </p14:cNvPr>
              <p14:cNvContentPartPr/>
              <p14:nvPr/>
            </p14:nvContentPartPr>
            <p14:xfrm>
              <a:off x="4980079" y="3725563"/>
              <a:ext cx="360" cy="360"/>
            </p14:xfrm>
          </p:contentPart>
        </mc:Choice>
        <mc:Fallback xmlns="">
          <p:pic>
            <p:nvPicPr>
              <p:cNvPr id="1046" name="Ink 1045">
                <a:extLst>
                  <a:ext uri="{FF2B5EF4-FFF2-40B4-BE49-F238E27FC236}">
                    <a16:creationId xmlns:a16="http://schemas.microsoft.com/office/drawing/2014/main" id="{4B6F50FE-7BF1-C4F1-740A-551BB31B843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62439" y="3617923"/>
                <a:ext cx="36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Google Shape;218;p2">
            <a:extLst>
              <a:ext uri="{FF2B5EF4-FFF2-40B4-BE49-F238E27FC236}">
                <a16:creationId xmlns:a16="http://schemas.microsoft.com/office/drawing/2014/main" id="{8B96F99D-4055-CF5E-1707-C383D53A7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1550" y="2062477"/>
            <a:ext cx="5613808" cy="442221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 automatic system to tell if a news story is real or fake using a computer.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start with a collection of news articles already labeled as "Real" or "Fake.“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the Text: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clean up the raw text by removing things like punctuation, numbers, and common words like "the.“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to Numbers: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Computers only understand numbers, so we convert the cleaned text into a numerical format.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Learning: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use a special program (a machine learning model) that learns from our numerical data to find patterns.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teach the model by showing it many examples of real and fake news until it learns to tell them apart.</a:t>
            </a:r>
          </a:p>
          <a:p>
            <a:pPr marL="285750" lvl="0" indent="-1841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gives a simple answer: "Fake" or "Real."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35447" y="1366516"/>
            <a:ext cx="5780809" cy="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295208" y="6323832"/>
            <a:ext cx="275243" cy="219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0" y="51051"/>
            <a:ext cx="757237" cy="960358"/>
          </a:xfrm>
          <a:prstGeom prst="rect">
            <a:avLst/>
          </a:prstGeom>
        </p:spPr>
      </p:pic>
      <p:sp>
        <p:nvSpPr>
          <p:cNvPr id="11" name="Google Shape;232;p3">
            <a:extLst>
              <a:ext uri="{FF2B5EF4-FFF2-40B4-BE49-F238E27FC236}">
                <a16:creationId xmlns:a16="http://schemas.microsoft.com/office/drawing/2014/main" id="{26002609-47B6-5192-8F2D-475CFE5A4FBD}"/>
              </a:ext>
            </a:extLst>
          </p:cNvPr>
          <p:cNvSpPr txBox="1"/>
          <p:nvPr/>
        </p:nvSpPr>
        <p:spPr>
          <a:xfrm>
            <a:off x="927058" y="2153826"/>
            <a:ext cx="5168942" cy="426375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base"/>
            <a:r>
              <a:rPr lang="en-US" sz="1600" dirty="0">
                <a:solidFill>
                  <a:schemeClr val="lt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     Functional Requirements</a:t>
            </a:r>
            <a:endParaRPr lang="en-US" sz="160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  <a:sym typeface="Libre Franklin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must take news text(like a headline or a full article) from a user.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It needs to quickly analyze the text and clearly predict if it’s “Real” or “Fake”.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should show the prediction to the user in straightforward way.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2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Functions: </a:t>
            </a:r>
            <a:r>
              <a:rPr lang="en-US" sz="12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must use a trained machine learning model to make the correct prediction.</a:t>
            </a:r>
          </a:p>
          <a:p>
            <a:pPr lvl="2">
              <a:lnSpc>
                <a:spcPct val="150000"/>
              </a:lnSpc>
              <a:buClr>
                <a:schemeClr val="dk1"/>
              </a:buClr>
              <a:buSzPts val="1600"/>
            </a:pPr>
            <a:r>
              <a:rPr lang="en-US" sz="1200" dirty="0">
                <a:solidFill>
                  <a:schemeClr val="lt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        </a:t>
            </a:r>
            <a:r>
              <a:rPr lang="en-US" sz="1600" dirty="0">
                <a:solidFill>
                  <a:schemeClr val="lt2"/>
                </a:solidFill>
                <a:latin typeface="Times New Roman" panose="02020603050405020304" pitchFamily="18" charset="0"/>
                <a:ea typeface="Franklin Gothic"/>
                <a:cs typeface="Times New Roman" panose="02020603050405020304" pitchFamily="18" charset="0"/>
                <a:sym typeface="Franklin Gothic"/>
              </a:rPr>
              <a:t>Non-Functional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simple and easy for anyone to use.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must give a prediction quickly within a few seconds.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work consistently and not crash.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 be deployed on different platforms (local machine or cloud).</a:t>
            </a:r>
            <a:endParaRPr lang="en-US" sz="1200" b="0" i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12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IN" dirty="0"/>
          </a:p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dirty="0"/>
          </a:p>
        </p:txBody>
      </p:sp>
      <p:sp>
        <p:nvSpPr>
          <p:cNvPr id="2" name="Google Shape;229;p3">
            <a:extLst>
              <a:ext uri="{FF2B5EF4-FFF2-40B4-BE49-F238E27FC236}">
                <a16:creationId xmlns:a16="http://schemas.microsoft.com/office/drawing/2014/main" id="{10A34CEC-D796-3924-01EE-1FD1D3DC7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44081" y="2153826"/>
            <a:ext cx="4612471" cy="426375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(CPU):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fast processing.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(Memory):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least 8 GB for smooth performance.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256 GB or more to save files and software.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 Card (GPU):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Needed if your project uses AI or deep learning.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downloading libraries or tools.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Windows, Linux, or macOS.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TensorFlow, OpenCV, scikit-learn, etc.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IDE/Editor: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Code, PyCharm, or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IN" sz="1800" dirty="0">
              <a:solidFill>
                <a:schemeClr val="tx1"/>
              </a:solidFill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tx1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IN" sz="1800" dirty="0">
              <a:solidFill>
                <a:schemeClr val="tx1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lang="en-IN" sz="2000" dirty="0">
              <a:solidFill>
                <a:schemeClr val="tx1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35447" y="1396594"/>
            <a:ext cx="5780809" cy="43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lvl="0"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3"/>
          <p:cNvSpPr txBox="1">
            <a:spLocks noGrp="1"/>
          </p:cNvSpPr>
          <p:nvPr>
            <p:ph type="body" idx="1"/>
          </p:nvPr>
        </p:nvSpPr>
        <p:spPr>
          <a:xfrm>
            <a:off x="935447" y="2147583"/>
            <a:ext cx="4855753" cy="156035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IN" sz="1200" dirty="0">
              <a:solidFill>
                <a:schemeClr val="tx1"/>
              </a:solidFill>
            </a:endParaRPr>
          </a:p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284537" y="6365777"/>
            <a:ext cx="260747" cy="20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0" y="51051"/>
            <a:ext cx="757237" cy="960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4665B-B045-13A4-3CC6-C4C9D5295B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41" b="11864"/>
          <a:stretch>
            <a:fillRect/>
          </a:stretch>
        </p:blipFill>
        <p:spPr bwMode="auto">
          <a:xfrm>
            <a:off x="952500" y="2213983"/>
            <a:ext cx="4838699" cy="12150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4ED91F-43F5-F638-B226-3F57DA9F0481}"/>
              </a:ext>
            </a:extLst>
          </p:cNvPr>
          <p:cNvSpPr txBox="1"/>
          <p:nvPr/>
        </p:nvSpPr>
        <p:spPr>
          <a:xfrm>
            <a:off x="422899" y="3356901"/>
            <a:ext cx="6098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" marR="156845" algn="ctr">
              <a:buNone/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Use</a:t>
            </a:r>
            <a:r>
              <a:rPr lang="en-US" sz="12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Case</a:t>
            </a:r>
            <a:r>
              <a:rPr lang="en-US" sz="1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Diagram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Google Shape;232;p3">
            <a:extLst>
              <a:ext uri="{FF2B5EF4-FFF2-40B4-BE49-F238E27FC236}">
                <a16:creationId xmlns:a16="http://schemas.microsoft.com/office/drawing/2014/main" id="{723D6D12-8691-C778-FEC6-41693D5CF86E}"/>
              </a:ext>
            </a:extLst>
          </p:cNvPr>
          <p:cNvSpPr txBox="1"/>
          <p:nvPr/>
        </p:nvSpPr>
        <p:spPr>
          <a:xfrm>
            <a:off x="6096000" y="2147583"/>
            <a:ext cx="5262694" cy="18036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/>
            <a:r>
              <a:rPr lang="en-US" sz="1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Fig. E-R</a:t>
            </a:r>
            <a:r>
              <a:rPr lang="en-US" sz="1200" b="1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Diagram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70" marR="156845" algn="ctr">
              <a:buNone/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9B048E-47DA-3D39-E871-DCB96560DAE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29" b="24450"/>
          <a:stretch>
            <a:fillRect/>
          </a:stretch>
        </p:blipFill>
        <p:spPr bwMode="auto">
          <a:xfrm>
            <a:off x="6303747" y="2213982"/>
            <a:ext cx="4535390" cy="14199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229;p3">
            <a:extLst>
              <a:ext uri="{FF2B5EF4-FFF2-40B4-BE49-F238E27FC236}">
                <a16:creationId xmlns:a16="http://schemas.microsoft.com/office/drawing/2014/main" id="{7CF56D2B-1648-B583-17FC-140EBCA7A3BB}"/>
              </a:ext>
            </a:extLst>
          </p:cNvPr>
          <p:cNvSpPr txBox="1">
            <a:spLocks/>
          </p:cNvSpPr>
          <p:nvPr/>
        </p:nvSpPr>
        <p:spPr>
          <a:xfrm>
            <a:off x="935446" y="3858936"/>
            <a:ext cx="4855753" cy="27012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228600" indent="0" algn="just">
              <a:lnSpc>
                <a:spcPct val="10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diagram represents how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Tool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works. A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interacts with the system by uploading media (image, text, or video).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processes the uploaded file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pre-trained machine learning models to check whether it is real or fake. After processing, the system provides feedback, and the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can view the result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simple and understandable format.</a:t>
            </a:r>
          </a:p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flow ensures an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user experience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User uploads a file.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 performs deepfake detection.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Result is displayed (Real/Fake).</a:t>
            </a:r>
          </a:p>
        </p:txBody>
      </p:sp>
      <p:sp>
        <p:nvSpPr>
          <p:cNvPr id="7" name="Google Shape;232;p3">
            <a:extLst>
              <a:ext uri="{FF2B5EF4-FFF2-40B4-BE49-F238E27FC236}">
                <a16:creationId xmlns:a16="http://schemas.microsoft.com/office/drawing/2014/main" id="{07E8E572-4341-D127-D82D-06E4B08EF962}"/>
              </a:ext>
            </a:extLst>
          </p:cNvPr>
          <p:cNvSpPr txBox="1"/>
          <p:nvPr/>
        </p:nvSpPr>
        <p:spPr>
          <a:xfrm>
            <a:off x="6096000" y="4093828"/>
            <a:ext cx="5262694" cy="246636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Explanation of ER Diagram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Table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Stores user information (ID, name, email, password).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Each user can upload media files.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Table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Stores details of uploaded media (ID, file name, type, upload date, user)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Each media is linked to the user who uploaded it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DetectionResult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Stores deepfake detection results. Each detection result is linked to a media file.</a:t>
            </a: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5548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935447" y="1223292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lvl="0">
              <a:buSzPct val="1000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178210" y="6332220"/>
            <a:ext cx="224462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0" y="51051"/>
            <a:ext cx="757237" cy="960358"/>
          </a:xfrm>
          <a:prstGeom prst="rect">
            <a:avLst/>
          </a:prstGeom>
        </p:spPr>
      </p:pic>
      <p:sp>
        <p:nvSpPr>
          <p:cNvPr id="3" name="Google Shape;232;p3">
            <a:extLst>
              <a:ext uri="{FF2B5EF4-FFF2-40B4-BE49-F238E27FC236}">
                <a16:creationId xmlns:a16="http://schemas.microsoft.com/office/drawing/2014/main" id="{4E451852-4E66-43E4-79B6-0B53E63AEE67}"/>
              </a:ext>
            </a:extLst>
          </p:cNvPr>
          <p:cNvSpPr txBox="1"/>
          <p:nvPr/>
        </p:nvSpPr>
        <p:spPr>
          <a:xfrm>
            <a:off x="952500" y="2122415"/>
            <a:ext cx="3334274" cy="44574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200" b="1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CA980F-FDFB-B4FD-9570-74045E718B2C}"/>
              </a:ext>
            </a:extLst>
          </p:cNvPr>
          <p:cNvSpPr txBox="1"/>
          <p:nvPr/>
        </p:nvSpPr>
        <p:spPr>
          <a:xfrm>
            <a:off x="-297810" y="6272094"/>
            <a:ext cx="60987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" marR="156845" algn="ctr">
              <a:spcBef>
                <a:spcPts val="855"/>
              </a:spcBef>
              <a:buNone/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Fig. Flow </a:t>
            </a:r>
            <a:r>
              <a:rPr lang="en-US" sz="12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</a:t>
            </a:r>
            <a:endParaRPr lang="en-IN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803C25-E403-9ED4-30CC-FF09CAC4B0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969" t="25900" r="37521" b="7772"/>
          <a:stretch>
            <a:fillRect/>
          </a:stretch>
        </p:blipFill>
        <p:spPr bwMode="auto">
          <a:xfrm>
            <a:off x="1057013" y="2162859"/>
            <a:ext cx="3171038" cy="41092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24617E-31D5-FF53-A60C-8CABA6853E68}"/>
              </a:ext>
            </a:extLst>
          </p:cNvPr>
          <p:cNvSpPr txBox="1"/>
          <p:nvPr/>
        </p:nvSpPr>
        <p:spPr>
          <a:xfrm>
            <a:off x="5141402" y="1119274"/>
            <a:ext cx="6249798" cy="5460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Process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begins.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(News)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the news text to check if it’s real or fake.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(Clean Text)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cleans the text (removes special characters, extra spaces, etc.).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(TF-IDF)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words are picked using a method called TF-IDF.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trained model is used to understand and analyze the news.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checks whether the news is fake or real.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If real → Show “Real News”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❌ If fake → Show “Fake News”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pPr>
              <a:lnSpc>
                <a:spcPct val="150000"/>
              </a:lnSpc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complete.</a:t>
            </a:r>
          </a:p>
        </p:txBody>
      </p:sp>
      <p:sp>
        <p:nvSpPr>
          <p:cNvPr id="8" name="Google Shape;232;p3">
            <a:extLst>
              <a:ext uri="{FF2B5EF4-FFF2-40B4-BE49-F238E27FC236}">
                <a16:creationId xmlns:a16="http://schemas.microsoft.com/office/drawing/2014/main" id="{9B7F8C75-931A-379C-5FAB-EE4F029525FD}"/>
              </a:ext>
            </a:extLst>
          </p:cNvPr>
          <p:cNvSpPr txBox="1"/>
          <p:nvPr/>
        </p:nvSpPr>
        <p:spPr>
          <a:xfrm>
            <a:off x="4836601" y="1461261"/>
            <a:ext cx="6554599" cy="511861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200" b="1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133576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AEACA-EAF7-3D44-C455-6554AEEBD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F9A72B8-E1F8-035F-B10C-7E41BC4684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24930" y="6374166"/>
            <a:ext cx="177742" cy="219582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" name="Google Shape;232;p3">
            <a:extLst>
              <a:ext uri="{FF2B5EF4-FFF2-40B4-BE49-F238E27FC236}">
                <a16:creationId xmlns:a16="http://schemas.microsoft.com/office/drawing/2014/main" id="{7069DBB6-FAFC-2097-8537-CE333E049F55}"/>
              </a:ext>
            </a:extLst>
          </p:cNvPr>
          <p:cNvSpPr txBox="1"/>
          <p:nvPr/>
        </p:nvSpPr>
        <p:spPr>
          <a:xfrm>
            <a:off x="6476301" y="2072123"/>
            <a:ext cx="4882393" cy="442095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200" b="1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</p:txBody>
      </p:sp>
      <p:sp>
        <p:nvSpPr>
          <p:cNvPr id="15" name="Google Shape;232;p3">
            <a:extLst>
              <a:ext uri="{FF2B5EF4-FFF2-40B4-BE49-F238E27FC236}">
                <a16:creationId xmlns:a16="http://schemas.microsoft.com/office/drawing/2014/main" id="{1D7EE4EE-1F0E-2766-CA79-AE3B969C0F8D}"/>
              </a:ext>
            </a:extLst>
          </p:cNvPr>
          <p:cNvSpPr txBox="1"/>
          <p:nvPr/>
        </p:nvSpPr>
        <p:spPr>
          <a:xfrm>
            <a:off x="964023" y="2072124"/>
            <a:ext cx="5067661" cy="442095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endParaRPr lang="en-US" sz="1200" b="1" i="0" dirty="0">
              <a:solidFill>
                <a:schemeClr val="dk1"/>
              </a:solidFill>
              <a:latin typeface="Times New Roman" panose="02020603050405020304" pitchFamily="18" charset="0"/>
              <a:ea typeface="Libre Franklin"/>
              <a:cs typeface="Times New Roman" panose="02020603050405020304" pitchFamily="18" charset="0"/>
              <a:sym typeface="Libre Franklin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6A365F4-98E1-D95E-B486-790C5C0A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623" y="2072123"/>
            <a:ext cx="4941477" cy="43020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9270C5-192A-A7AE-7CCC-37BD29466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85" y="2164360"/>
            <a:ext cx="4772146" cy="426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97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BDBDA-E17B-F525-40C0-66740090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0" y="1081490"/>
            <a:ext cx="4941477" cy="6108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iterature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sq-AL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urvey</a:t>
            </a:r>
            <a:endParaRPr lang="hi-IN" dirty="0">
              <a:latin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9907EE7-DD5E-8116-047E-B4BE12F47A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01336" y="6332220"/>
            <a:ext cx="209725" cy="261527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93CCC7C-8D3F-AF43-1646-AA2F6E04F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206974"/>
              </p:ext>
            </p:extLst>
          </p:nvPr>
        </p:nvGraphicFramePr>
        <p:xfrm>
          <a:off x="90658" y="2051147"/>
          <a:ext cx="12010684" cy="4175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106">
                  <a:extLst>
                    <a:ext uri="{9D8B030D-6E8A-4147-A177-3AD203B41FA5}">
                      <a16:colId xmlns:a16="http://schemas.microsoft.com/office/drawing/2014/main" val="959770414"/>
                    </a:ext>
                  </a:extLst>
                </a:gridCol>
                <a:gridCol w="2751992">
                  <a:extLst>
                    <a:ext uri="{9D8B030D-6E8A-4147-A177-3AD203B41FA5}">
                      <a16:colId xmlns:a16="http://schemas.microsoft.com/office/drawing/2014/main" val="1709955724"/>
                    </a:ext>
                  </a:extLst>
                </a:gridCol>
                <a:gridCol w="2966915">
                  <a:extLst>
                    <a:ext uri="{9D8B030D-6E8A-4147-A177-3AD203B41FA5}">
                      <a16:colId xmlns:a16="http://schemas.microsoft.com/office/drawing/2014/main" val="4128022842"/>
                    </a:ext>
                  </a:extLst>
                </a:gridCol>
                <a:gridCol w="3002671">
                  <a:extLst>
                    <a:ext uri="{9D8B030D-6E8A-4147-A177-3AD203B41FA5}">
                      <a16:colId xmlns:a16="http://schemas.microsoft.com/office/drawing/2014/main" val="95859608"/>
                    </a:ext>
                  </a:extLst>
                </a:gridCol>
              </a:tblGrid>
              <a:tr h="392008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Name</a:t>
                      </a:r>
                      <a:endParaRPr lang="hi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  <a:endParaRPr lang="hi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hi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Refrences</a:t>
                      </a:r>
                      <a:endParaRPr lang="hi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987161"/>
                  </a:ext>
                </a:extLst>
              </a:tr>
              <a:tr h="1608728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</a:rPr>
                        <a:t>Liar, Liar Pants on Fire": A New Benchmark Dataset for Fake News Detection</a:t>
                      </a:r>
                      <a:endParaRPr lang="hi-IN" sz="1200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</a:rPr>
                        <a:t>This paper introduces the LIAR dataset, which is a highly influential resource for fake news research. Unlike simple real/fake datasets, LIAR classifies claims from the PolitiFact website into six categories (e.g., true, mostly true, half-true, false).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 groundbreaking, the dataset is limited to political claims from a single source (PolitiFact). This can introduce bias and may not represent the diverse nature of fake news on other topics or platforms like social media.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Wang, W. Y. (2017). "Liar, Liar Pants on Fire": A New Benchmark Dataset for Fake News Detection.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18485"/>
                  </a:ext>
                </a:extLst>
              </a:tr>
              <a:tr h="1568741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Survey on Fake News Detection on Social Media</a:t>
                      </a:r>
                      <a:endParaRPr lang="hi-IN" sz="1200" b="1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provides a broad overview of fake news detection, discussing not just the text itself, but also social context. The authors propose a framework that considers features like user behavior, how news spreads, and the reputation of the source, in addition to the text.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is a survey of existing work, so it doesn't offer a new, specific implementation. While it highlights the importance of social context, many of these features are difficult to collect and analyze in real-time.</a:t>
                      </a: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Shu, K., Sliva, A., Wang, S., Tang, J., &amp; Liu, H. (2017). Fake News Detection on Social Media: A Data Mining Perspective.</a:t>
                      </a:r>
                      <a:endParaRPr lang="hi-IN" sz="1200" dirty="0">
                        <a:latin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400500"/>
                  </a:ext>
                </a:extLst>
              </a:tr>
              <a:tr h="606517">
                <a:tc>
                  <a:txBody>
                    <a:bodyPr/>
                    <a:lstStyle/>
                    <a:p>
                      <a:endParaRPr lang="hi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i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i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hi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758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11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xfrm>
            <a:off x="233551" y="6365776"/>
            <a:ext cx="261620" cy="211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71" y="1173708"/>
            <a:ext cx="9276625" cy="4775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10" y="51051"/>
            <a:ext cx="757237" cy="96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88247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3058</TotalTime>
  <Words>1143</Words>
  <Application>Microsoft Office PowerPoint</Application>
  <PresentationFormat>Widescreen</PresentationFormat>
  <Paragraphs>132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Calibri</vt:lpstr>
      <vt:lpstr>Arial</vt:lpstr>
      <vt:lpstr>Libre Franklin</vt:lpstr>
      <vt:lpstr>Roboto</vt:lpstr>
      <vt:lpstr>Franklin Gothic</vt:lpstr>
      <vt:lpstr>Noto Sans Symbols</vt:lpstr>
      <vt:lpstr>Wingdings</vt:lpstr>
      <vt:lpstr>Times New Roman</vt:lpstr>
      <vt:lpstr>Theme1</vt:lpstr>
      <vt:lpstr> Fake News Detection Tool   </vt:lpstr>
      <vt:lpstr>Idea/Approach Details</vt:lpstr>
      <vt:lpstr>Project Requirements </vt:lpstr>
      <vt:lpstr>Design </vt:lpstr>
      <vt:lpstr>Design </vt:lpstr>
      <vt:lpstr>Screenshots</vt:lpstr>
      <vt:lpstr>Literature Survey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Sarim Moin</dc:creator>
  <cp:lastModifiedBy>GANESH PANDEY</cp:lastModifiedBy>
  <cp:revision>33</cp:revision>
  <dcterms:created xsi:type="dcterms:W3CDTF">2022-02-11T07:14:46Z</dcterms:created>
  <dcterms:modified xsi:type="dcterms:W3CDTF">2025-10-06T06:15:41Z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